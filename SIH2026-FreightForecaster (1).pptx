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8" r:id="rId5"/>
    <p:sldId id="293" r:id="rId6"/>
    <p:sldId id="294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58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9F2DA-CB30-3F64-838C-0ED40F340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9DF20B5F-9F35-7582-E114-F0B606D9D1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2F9B73A5-83A5-7403-CBCA-E4C06D36728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6FCAF970-BC02-D5CB-E5AB-BEBAAE453C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487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BC879B63-09E9-4D6C-B7A7-7164C286F271}" type="slidenum">
              <a:rPr lang="en-US" smtClean="0"/>
              <a:pPr/>
              <a:t>‹#›</a:t>
            </a:fld>
            <a:fld id="{556BA70F-5AD6-4EAF-A066-48189FC90E7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CFF595-A49B-2249-8CFF-479DC39FA670}"/>
              </a:ext>
            </a:extLst>
          </p:cNvPr>
          <p:cNvSpPr txBox="1"/>
          <p:nvPr userDrawn="1"/>
        </p:nvSpPr>
        <p:spPr>
          <a:xfrm>
            <a:off x="3047281" y="3255995"/>
            <a:ext cx="60945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prstClr val="white"/>
                </a:solidFill>
                <a:latin typeface="TradeGothic"/>
              </a:rPr>
              <a:t>@SIH Idea submission- Template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Parth5599/FreightForecaster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1044567"/>
            <a:ext cx="8534400" cy="56987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+mn-lt"/>
              </a:rPr>
              <a:t>INTELLIGENT FREIGHT FORECASTING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105285"/>
            <a:ext cx="10363200" cy="837842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5871" y="1689363"/>
            <a:ext cx="5924550" cy="5009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IN" sz="2000" dirty="0"/>
              <a:t>SIH26006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dirty="0"/>
              <a:t>Development of an Intelligent Freight Forecasting Model for Optimized Vessel Chartering and Bulk Cargo Procurement from overseas to East Coast of India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Theme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IN" sz="2000" dirty="0"/>
              <a:t>Transportation &amp; Logistics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PS Category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dirty="0"/>
              <a:t>Software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Team ID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Team Name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dirty="0" err="1"/>
              <a:t>Aeturnus</a:t>
            </a:r>
            <a:endParaRPr lang="en-IN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4458" y="337079"/>
            <a:ext cx="10972800" cy="485723"/>
          </a:xfrm>
        </p:spPr>
        <p:txBody>
          <a:bodyPr/>
          <a:lstStyle/>
          <a:p>
            <a:r>
              <a:rPr lang="en-IN" sz="3600" b="1" dirty="0">
                <a:latin typeface="Aptos"/>
              </a:rPr>
              <a:t>The Current Problem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2E19B78-CCE0-9FF8-4B97-D9871DABC285}"/>
              </a:ext>
            </a:extLst>
          </p:cNvPr>
          <p:cNvSpPr txBox="1"/>
          <p:nvPr/>
        </p:nvSpPr>
        <p:spPr>
          <a:xfrm>
            <a:off x="834272" y="1725704"/>
            <a:ext cx="6174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1" dirty="0">
                <a:solidFill>
                  <a:srgbClr val="2DAACD"/>
                </a:solidFill>
                <a:latin typeface="Aptos"/>
              </a:rPr>
              <a:t>DAILY MARKET SEARCH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0B6E99-3444-963B-5372-3DD2787E72EA}"/>
              </a:ext>
            </a:extLst>
          </p:cNvPr>
          <p:cNvSpPr txBox="1"/>
          <p:nvPr/>
        </p:nvSpPr>
        <p:spPr>
          <a:xfrm>
            <a:off x="834272" y="2073435"/>
            <a:ext cx="44164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dirty="0">
                <a:latin typeface="Aptos"/>
              </a:rPr>
              <a:t>Repeated freight-market exploration and broker engagement.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F79BEA-4AD9-AC95-52F9-549EF528E4AA}"/>
              </a:ext>
            </a:extLst>
          </p:cNvPr>
          <p:cNvSpPr txBox="1"/>
          <p:nvPr/>
        </p:nvSpPr>
        <p:spPr>
          <a:xfrm>
            <a:off x="6250200" y="1764009"/>
            <a:ext cx="6174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1" dirty="0">
                <a:solidFill>
                  <a:srgbClr val="DCA02D"/>
                </a:solidFill>
                <a:latin typeface="Aptos"/>
              </a:rPr>
              <a:t>UNCERTAIN TIMING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D2BD11-19BF-626F-0916-3E8A0F73BFF8}"/>
              </a:ext>
            </a:extLst>
          </p:cNvPr>
          <p:cNvSpPr txBox="1"/>
          <p:nvPr/>
        </p:nvSpPr>
        <p:spPr>
          <a:xfrm>
            <a:off x="6250200" y="2095036"/>
            <a:ext cx="42939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dirty="0">
                <a:latin typeface="Aptos"/>
              </a:rPr>
              <a:t>Limited predictive visibility into 30–60-day freight movements.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B3EC66-8597-C1F1-29E4-BAE163C672BC}"/>
              </a:ext>
            </a:extLst>
          </p:cNvPr>
          <p:cNvSpPr txBox="1"/>
          <p:nvPr/>
        </p:nvSpPr>
        <p:spPr>
          <a:xfrm>
            <a:off x="834272" y="2911719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1" dirty="0">
                <a:solidFill>
                  <a:srgbClr val="309B69"/>
                </a:solidFill>
                <a:latin typeface="Aptos"/>
              </a:rPr>
              <a:t>VESSEL MISMATCH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A1BDEE-F44D-6386-F79E-1964B19105E2}"/>
              </a:ext>
            </a:extLst>
          </p:cNvPr>
          <p:cNvSpPr txBox="1"/>
          <p:nvPr/>
        </p:nvSpPr>
        <p:spPr>
          <a:xfrm>
            <a:off x="834272" y="3264910"/>
            <a:ext cx="41344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dirty="0">
                <a:latin typeface="Aptos"/>
              </a:rPr>
              <a:t>Cargo, vessel capacity and port constraints are difficult to optimize together.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A4FB60-3C4B-FD7E-2CA7-1662F6819367}"/>
              </a:ext>
            </a:extLst>
          </p:cNvPr>
          <p:cNvSpPr txBox="1"/>
          <p:nvPr/>
        </p:nvSpPr>
        <p:spPr>
          <a:xfrm>
            <a:off x="6250200" y="2956829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1" dirty="0">
                <a:solidFill>
                  <a:srgbClr val="195FA0"/>
                </a:solidFill>
                <a:latin typeface="Aptos"/>
              </a:rPr>
              <a:t>IDLE &amp; CONGESTION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9A7A19-D979-8913-09A6-8B1E5C1613D6}"/>
              </a:ext>
            </a:extLst>
          </p:cNvPr>
          <p:cNvSpPr txBox="1"/>
          <p:nvPr/>
        </p:nvSpPr>
        <p:spPr>
          <a:xfrm>
            <a:off x="6250200" y="3326161"/>
            <a:ext cx="41344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dirty="0">
                <a:latin typeface="Aptos"/>
              </a:rPr>
              <a:t>Poor planning can create waiting time, deadheading and extra cost.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0AA5AB-7FB7-B9B9-90A0-020CCB0EBE5A}"/>
              </a:ext>
            </a:extLst>
          </p:cNvPr>
          <p:cNvSpPr txBox="1"/>
          <p:nvPr/>
        </p:nvSpPr>
        <p:spPr>
          <a:xfrm>
            <a:off x="2525336" y="4655795"/>
            <a:ext cx="6212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/>
              </a:rPr>
              <a:t>CORE CHALLENGE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E61C4F-1638-7E3A-35A5-43EAE7D83678}"/>
              </a:ext>
            </a:extLst>
          </p:cNvPr>
          <p:cNvSpPr txBox="1"/>
          <p:nvPr/>
        </p:nvSpPr>
        <p:spPr>
          <a:xfrm>
            <a:off x="2574725" y="5062100"/>
            <a:ext cx="6212264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l"/>
            <a:r>
              <a:rPr lang="en-US" sz="1800" b="1" dirty="0">
                <a:ln/>
                <a:solidFill>
                  <a:schemeClr val="accent3"/>
                </a:solidFill>
                <a:latin typeface="Aptos"/>
              </a:rPr>
              <a:t>A good decision must balance PRICE + VESSEL + PORT + TIME + RISK.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366E78D-067C-8E23-2A18-5387CC055209}"/>
              </a:ext>
            </a:extLst>
          </p:cNvPr>
          <p:cNvSpPr/>
          <p:nvPr/>
        </p:nvSpPr>
        <p:spPr>
          <a:xfrm>
            <a:off x="2434867" y="4473871"/>
            <a:ext cx="6491981" cy="1376141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 dirty="0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9DF618B-56D3-DC5D-F874-29DCEA186971}"/>
              </a:ext>
            </a:extLst>
          </p:cNvPr>
          <p:cNvSpPr txBox="1"/>
          <p:nvPr/>
        </p:nvSpPr>
        <p:spPr>
          <a:xfrm>
            <a:off x="3332375" y="869350"/>
            <a:ext cx="6212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Why traditional chartering is reactive and costly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1C0FEE6-26E6-3C42-2405-4C25FFEE7A8F}"/>
              </a:ext>
            </a:extLst>
          </p:cNvPr>
          <p:cNvSpPr/>
          <p:nvPr/>
        </p:nvSpPr>
        <p:spPr>
          <a:xfrm>
            <a:off x="329939" y="276834"/>
            <a:ext cx="1536569" cy="54168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Aeturnus</a:t>
            </a:r>
            <a:endParaRPr lang="en-IN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CD99F1-7DB8-54B9-E6D3-30F1A29DC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C98C0B78-022B-63BC-D3E1-F26B2E3D7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94DFCBC-6C48-DC61-6DE7-659067B01760}"/>
              </a:ext>
            </a:extLst>
          </p:cNvPr>
          <p:cNvSpPr txBox="1">
            <a:spLocks/>
          </p:cNvSpPr>
          <p:nvPr/>
        </p:nvSpPr>
        <p:spPr>
          <a:xfrm>
            <a:off x="8890000" y="6413234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b="1" smtClean="0">
                <a:solidFill>
                  <a:prstClr val="white"/>
                </a:solidFill>
              </a:rPr>
              <a:pPr>
                <a:defRPr/>
              </a:pPr>
              <a:t>2</a:t>
            </a:fld>
            <a:endParaRPr lang="en-US" b="1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2064" y="225659"/>
            <a:ext cx="10972800" cy="641514"/>
          </a:xfrm>
        </p:spPr>
        <p:txBody>
          <a:bodyPr/>
          <a:lstStyle/>
          <a:p>
            <a:r>
              <a:rPr lang="en-IN" sz="3600" b="1" dirty="0">
                <a:latin typeface="Aptos"/>
              </a:rPr>
              <a:t>Our Proposed Solution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24744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7D2356-6268-B417-EA2D-CC028CDE03FB}"/>
              </a:ext>
            </a:extLst>
          </p:cNvPr>
          <p:cNvSpPr txBox="1"/>
          <p:nvPr/>
        </p:nvSpPr>
        <p:spPr>
          <a:xfrm>
            <a:off x="490478" y="1275734"/>
            <a:ext cx="47676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One intelligent platform turns fragmented data into an actionable chartering decision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0F75BA-476F-4BA1-839B-237592F18087}"/>
              </a:ext>
            </a:extLst>
          </p:cNvPr>
          <p:cNvSpPr txBox="1"/>
          <p:nvPr/>
        </p:nvSpPr>
        <p:spPr>
          <a:xfrm>
            <a:off x="490478" y="2057411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1" dirty="0">
                <a:solidFill>
                  <a:srgbClr val="2DAACD"/>
                </a:solidFill>
                <a:latin typeface="Aptos"/>
              </a:rPr>
              <a:t>1 • FORECAST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1B7155-A42B-998B-7834-6CCC88FF7B68}"/>
              </a:ext>
            </a:extLst>
          </p:cNvPr>
          <p:cNvSpPr txBox="1"/>
          <p:nvPr/>
        </p:nvSpPr>
        <p:spPr>
          <a:xfrm>
            <a:off x="490478" y="2394592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dirty="0">
                <a:latin typeface="Aptos"/>
              </a:rPr>
              <a:t>Predict future freight rates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4346F5-CCB1-1588-678B-79C1F3949D86}"/>
              </a:ext>
            </a:extLst>
          </p:cNvPr>
          <p:cNvSpPr txBox="1"/>
          <p:nvPr/>
        </p:nvSpPr>
        <p:spPr>
          <a:xfrm>
            <a:off x="490478" y="288107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1" dirty="0">
                <a:solidFill>
                  <a:srgbClr val="2DAACD"/>
                </a:solidFill>
                <a:latin typeface="Aptos"/>
              </a:rPr>
              <a:t>2 • OPTIMIZE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BD7A4F-64AF-13AC-D125-B0CC81B7853A}"/>
              </a:ext>
            </a:extLst>
          </p:cNvPr>
          <p:cNvSpPr txBox="1"/>
          <p:nvPr/>
        </p:nvSpPr>
        <p:spPr>
          <a:xfrm>
            <a:off x="490478" y="3250402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dirty="0">
                <a:latin typeface="Aptos"/>
              </a:rPr>
              <a:t>Select the best feasible vessel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D0069D-1048-452B-54A5-831964AA8BAC}"/>
              </a:ext>
            </a:extLst>
          </p:cNvPr>
          <p:cNvSpPr txBox="1"/>
          <p:nvPr/>
        </p:nvSpPr>
        <p:spPr>
          <a:xfrm>
            <a:off x="490478" y="374212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1" dirty="0">
                <a:solidFill>
                  <a:srgbClr val="2DAACD"/>
                </a:solidFill>
                <a:latin typeface="Aptos"/>
              </a:rPr>
              <a:t>3 • CHECK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171398-280E-7340-A77A-B830525F3014}"/>
              </a:ext>
            </a:extLst>
          </p:cNvPr>
          <p:cNvSpPr txBox="1"/>
          <p:nvPr/>
        </p:nvSpPr>
        <p:spPr>
          <a:xfrm>
            <a:off x="490478" y="411146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dirty="0">
                <a:latin typeface="Aptos"/>
              </a:rPr>
              <a:t>Validate loading &amp; discharge ports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B2938B-1D24-6C90-7A91-BED137BFCBC1}"/>
              </a:ext>
            </a:extLst>
          </p:cNvPr>
          <p:cNvSpPr txBox="1"/>
          <p:nvPr/>
        </p:nvSpPr>
        <p:spPr>
          <a:xfrm>
            <a:off x="490478" y="459793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1" dirty="0">
                <a:solidFill>
                  <a:srgbClr val="2DAACD"/>
                </a:solidFill>
                <a:latin typeface="Aptos"/>
              </a:rPr>
              <a:t>4 • PROTECT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8171AE-DF88-3079-E82B-F21D382A49F6}"/>
              </a:ext>
            </a:extLst>
          </p:cNvPr>
          <p:cNvSpPr txBox="1"/>
          <p:nvPr/>
        </p:nvSpPr>
        <p:spPr>
          <a:xfrm>
            <a:off x="490478" y="496727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dirty="0">
                <a:latin typeface="Aptos"/>
              </a:rPr>
              <a:t>Detect volatility, congestion &amp; disruption risk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B1DD34-60A0-1338-7D8C-CC0CB6C1B91A}"/>
              </a:ext>
            </a:extLst>
          </p:cNvPr>
          <p:cNvSpPr txBox="1"/>
          <p:nvPr/>
        </p:nvSpPr>
        <p:spPr>
          <a:xfrm>
            <a:off x="490478" y="5472601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1" dirty="0">
                <a:solidFill>
                  <a:srgbClr val="309B69"/>
                </a:solidFill>
                <a:latin typeface="Aptos"/>
              </a:rPr>
              <a:t>5 • DECIDE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E60E53-1147-B0E3-1F27-4841119DFCD9}"/>
              </a:ext>
            </a:extLst>
          </p:cNvPr>
          <p:cNvSpPr txBox="1"/>
          <p:nvPr/>
        </p:nvSpPr>
        <p:spPr>
          <a:xfrm>
            <a:off x="490478" y="5841933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dirty="0">
                <a:latin typeface="Aptos"/>
              </a:rPr>
              <a:t>BOOK NOW • PARTIAL BOOK • WAIT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38F80C-1207-819F-E55F-9C598FF9223F}"/>
              </a:ext>
            </a:extLst>
          </p:cNvPr>
          <p:cNvSpPr txBox="1"/>
          <p:nvPr/>
        </p:nvSpPr>
        <p:spPr>
          <a:xfrm>
            <a:off x="7208878" y="1012759"/>
            <a:ext cx="35344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dirty="0">
                <a:latin typeface="Aptos"/>
              </a:rPr>
              <a:t>How the System Works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99B1C9-572E-8AE3-9A42-93094DD3C458}"/>
              </a:ext>
            </a:extLst>
          </p:cNvPr>
          <p:cNvSpPr txBox="1"/>
          <p:nvPr/>
        </p:nvSpPr>
        <p:spPr>
          <a:xfrm>
            <a:off x="7208878" y="1312866"/>
            <a:ext cx="60944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End-to-end decision pipeline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BBE4208-C893-4A9E-17BA-95D4EA4706E7}"/>
              </a:ext>
            </a:extLst>
          </p:cNvPr>
          <p:cNvSpPr/>
          <p:nvPr/>
        </p:nvSpPr>
        <p:spPr>
          <a:xfrm>
            <a:off x="7081338" y="1657873"/>
            <a:ext cx="4053526" cy="71645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2"/>
                </a:solidFill>
                <a:latin typeface="Aptos"/>
              </a:rPr>
              <a:t>USER INPUT</a:t>
            </a:r>
          </a:p>
          <a:p>
            <a:pPr algn="ctr"/>
            <a:r>
              <a:rPr lang="en-I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Cargo • Origin • Destination • Date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F3E617D-4B20-4C58-E404-4CA024F6BB94}"/>
              </a:ext>
            </a:extLst>
          </p:cNvPr>
          <p:cNvSpPr/>
          <p:nvPr/>
        </p:nvSpPr>
        <p:spPr>
          <a:xfrm>
            <a:off x="7111000" y="2621746"/>
            <a:ext cx="4053526" cy="74471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2"/>
                </a:solidFill>
                <a:latin typeface="Aptos"/>
              </a:rPr>
              <a:t>DATA ENGINE</a:t>
            </a:r>
          </a:p>
          <a:p>
            <a:pPr algn="ctr"/>
            <a:r>
              <a:rPr lang="en-I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Freight • Ports • Vessels • Market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8D1CB79-9DA1-3AD8-2DB3-B055A6D14AFE}"/>
              </a:ext>
            </a:extLst>
          </p:cNvPr>
          <p:cNvSpPr/>
          <p:nvPr/>
        </p:nvSpPr>
        <p:spPr>
          <a:xfrm>
            <a:off x="7081338" y="3619734"/>
            <a:ext cx="4053526" cy="74471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2"/>
                </a:solidFill>
                <a:latin typeface="Aptos"/>
              </a:rPr>
              <a:t>AI ENGINE</a:t>
            </a:r>
          </a:p>
          <a:p>
            <a:pPr algn="ctr"/>
            <a:r>
              <a:rPr lang="en-I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Forecast • Risk • Prediction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6DFB325-1FA4-C286-819B-CA2C6399ED70}"/>
              </a:ext>
            </a:extLst>
          </p:cNvPr>
          <p:cNvSpPr/>
          <p:nvPr/>
        </p:nvSpPr>
        <p:spPr>
          <a:xfrm>
            <a:off x="7081338" y="4624031"/>
            <a:ext cx="4053526" cy="74471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2"/>
                </a:solidFill>
                <a:latin typeface="Aptos"/>
              </a:rPr>
              <a:t>OPTIMIZER</a:t>
            </a:r>
          </a:p>
          <a:p>
            <a:pPr algn="ctr"/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Vessel fit • Cost • Idle time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1D0E80C-8968-3BD2-BF10-D7E9AC06A812}"/>
              </a:ext>
            </a:extLst>
          </p:cNvPr>
          <p:cNvSpPr/>
          <p:nvPr/>
        </p:nvSpPr>
        <p:spPr>
          <a:xfrm>
            <a:off x="7081338" y="5619542"/>
            <a:ext cx="4053526" cy="68067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2"/>
                </a:solidFill>
                <a:latin typeface="Aptos"/>
              </a:rPr>
              <a:t>DECISION</a:t>
            </a:r>
            <a:endParaRPr lang="en-IN" b="1" dirty="0">
              <a:solidFill>
                <a:schemeClr val="tx2"/>
              </a:solidFill>
              <a:latin typeface="Aptos"/>
            </a:endParaRPr>
          </a:p>
          <a:p>
            <a:pPr algn="ctr"/>
            <a:r>
              <a:rPr lang="en-I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Booking strategy + explanation</a:t>
            </a:r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3225A1F4-D23D-91F9-44D5-1BCF65254C9D}"/>
              </a:ext>
            </a:extLst>
          </p:cNvPr>
          <p:cNvSpPr/>
          <p:nvPr/>
        </p:nvSpPr>
        <p:spPr>
          <a:xfrm>
            <a:off x="9005788" y="2380637"/>
            <a:ext cx="263950" cy="233486"/>
          </a:xfrm>
          <a:prstGeom prst="down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Arrow: Down 41">
            <a:extLst>
              <a:ext uri="{FF2B5EF4-FFF2-40B4-BE49-F238E27FC236}">
                <a16:creationId xmlns:a16="http://schemas.microsoft.com/office/drawing/2014/main" id="{5C8FE673-5725-9D81-48F0-035BF44C6557}"/>
              </a:ext>
            </a:extLst>
          </p:cNvPr>
          <p:cNvSpPr/>
          <p:nvPr/>
        </p:nvSpPr>
        <p:spPr>
          <a:xfrm>
            <a:off x="9005788" y="3367431"/>
            <a:ext cx="263950" cy="233486"/>
          </a:xfrm>
          <a:prstGeom prst="down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E0C8AD85-B1CD-2817-AF5C-F756DBE83EE1}"/>
              </a:ext>
            </a:extLst>
          </p:cNvPr>
          <p:cNvSpPr/>
          <p:nvPr/>
        </p:nvSpPr>
        <p:spPr>
          <a:xfrm>
            <a:off x="9005788" y="4390545"/>
            <a:ext cx="263950" cy="233486"/>
          </a:xfrm>
          <a:prstGeom prst="down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37FFD9C1-7A04-8F4F-CE1E-7AB74DEAA20D}"/>
              </a:ext>
            </a:extLst>
          </p:cNvPr>
          <p:cNvSpPr/>
          <p:nvPr/>
        </p:nvSpPr>
        <p:spPr>
          <a:xfrm>
            <a:off x="9005788" y="5376372"/>
            <a:ext cx="263950" cy="233486"/>
          </a:xfrm>
          <a:prstGeom prst="down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37570482-23B0-E538-69BD-A3F931F361E0}"/>
              </a:ext>
            </a:extLst>
          </p:cNvPr>
          <p:cNvSpPr/>
          <p:nvPr/>
        </p:nvSpPr>
        <p:spPr>
          <a:xfrm>
            <a:off x="329939" y="276834"/>
            <a:ext cx="1536569" cy="54168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Aeturnus</a:t>
            </a:r>
            <a:endParaRPr lang="en-IN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AC5F0A-0B59-157E-12D2-E736E5C2D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5" name="Footer Placeholder 6">
            <a:extLst>
              <a:ext uri="{FF2B5EF4-FFF2-40B4-BE49-F238E27FC236}">
                <a16:creationId xmlns:a16="http://schemas.microsoft.com/office/drawing/2014/main" id="{9DCCAE00-2353-1D95-149C-31CBA14EB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2B1FFD24-5B60-77BD-8C9A-7ED0C05F7991}"/>
              </a:ext>
            </a:extLst>
          </p:cNvPr>
          <p:cNvSpPr txBox="1">
            <a:spLocks/>
          </p:cNvSpPr>
          <p:nvPr/>
        </p:nvSpPr>
        <p:spPr>
          <a:xfrm>
            <a:off x="8890000" y="6413234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b="1" smtClean="0">
                <a:solidFill>
                  <a:prstClr val="white"/>
                </a:solidFill>
              </a:rPr>
              <a:pPr>
                <a:defRPr/>
              </a:pPr>
              <a:t>3</a:t>
            </a:fld>
            <a:endParaRPr lang="en-US" b="1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27397-C002-961F-547F-1647A52FA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5B45616-4A37-1E39-F9DF-30BD64838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808" y="422671"/>
            <a:ext cx="10972800" cy="641514"/>
          </a:xfrm>
        </p:spPr>
        <p:txBody>
          <a:bodyPr/>
          <a:lstStyle/>
          <a:p>
            <a:r>
              <a:rPr lang="en-IN" sz="3600" b="1" dirty="0">
                <a:latin typeface="Aptos"/>
              </a:rPr>
              <a:t>TECHNICAL</a:t>
            </a:r>
            <a:r>
              <a:rPr lang="en-IN" sz="3600" b="1" dirty="0">
                <a:solidFill>
                  <a:srgbClr val="38CFE7"/>
                </a:solidFill>
                <a:latin typeface="Aptos"/>
              </a:rPr>
              <a:t> </a:t>
            </a:r>
            <a:r>
              <a:rPr lang="en-IN" sz="3600" b="1" dirty="0">
                <a:latin typeface="Aptos"/>
              </a:rPr>
              <a:t>APPROACH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93442F1-986C-C0A0-E59A-C0FE835038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331EA5-78CE-A007-4B79-64937E407716}"/>
              </a:ext>
            </a:extLst>
          </p:cNvPr>
          <p:cNvSpPr txBox="1"/>
          <p:nvPr/>
        </p:nvSpPr>
        <p:spPr>
          <a:xfrm>
            <a:off x="416808" y="1111419"/>
            <a:ext cx="11517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Aptos"/>
              </a:rPr>
              <a:t>Python-powered AI platform with a centralized database for intelligent freight forecasting and vessel chartering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F22A149-ABA1-7F40-4129-A164A074E9C1}"/>
              </a:ext>
            </a:extLst>
          </p:cNvPr>
          <p:cNvSpPr/>
          <p:nvPr/>
        </p:nvSpPr>
        <p:spPr>
          <a:xfrm>
            <a:off x="559317" y="2022041"/>
            <a:ext cx="1756536" cy="224830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DATA INGESTION</a:t>
            </a:r>
          </a:p>
          <a:p>
            <a:pPr algn="ctr"/>
            <a:endParaRPr lang="en-IN" sz="1400" b="1" dirty="0"/>
          </a:p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Freight rates</a:t>
            </a:r>
          </a:p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Bunker prices</a:t>
            </a:r>
          </a:p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Port congestion</a:t>
            </a:r>
          </a:p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Vessel &amp; cargo data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BA36657-6AB9-6524-EB9C-9E4CFAF15553}"/>
              </a:ext>
            </a:extLst>
          </p:cNvPr>
          <p:cNvSpPr/>
          <p:nvPr/>
        </p:nvSpPr>
        <p:spPr>
          <a:xfrm>
            <a:off x="2887739" y="2045615"/>
            <a:ext cx="1756536" cy="2224727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PYTHON DATA LAYER</a:t>
            </a:r>
          </a:p>
          <a:p>
            <a:pPr algn="ctr"/>
            <a:endParaRPr lang="en-IN" sz="1400" b="1" dirty="0"/>
          </a:p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Pandas + NumPy</a:t>
            </a:r>
          </a:p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Data cleaning</a:t>
            </a:r>
          </a:p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Feature engineering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9EFBCF9-9B04-99BD-364C-315ABE2A6BF8}"/>
              </a:ext>
            </a:extLst>
          </p:cNvPr>
          <p:cNvSpPr/>
          <p:nvPr/>
        </p:nvSpPr>
        <p:spPr>
          <a:xfrm>
            <a:off x="5216161" y="2022041"/>
            <a:ext cx="1756536" cy="2224727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AI &amp; OPTIMIZATION</a:t>
            </a:r>
          </a:p>
          <a:p>
            <a:pPr algn="ctr"/>
            <a:endParaRPr lang="en-IN" sz="1400" b="1" dirty="0"/>
          </a:p>
          <a:p>
            <a:r>
              <a:rPr 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XGBoost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 model</a:t>
            </a:r>
          </a:p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7/30/60-day forecasts</a:t>
            </a:r>
          </a:p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Demand &amp; rate prediction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13E5B2F-9071-2C72-F152-CC8AC235C991}"/>
              </a:ext>
            </a:extLst>
          </p:cNvPr>
          <p:cNvSpPr/>
          <p:nvPr/>
        </p:nvSpPr>
        <p:spPr>
          <a:xfrm>
            <a:off x="7541441" y="2022041"/>
            <a:ext cx="1762820" cy="224830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DECISION ENGINE</a:t>
            </a:r>
          </a:p>
          <a:p>
            <a:pPr algn="ctr"/>
            <a:endParaRPr lang="en-IN" sz="1400" b="1" dirty="0"/>
          </a:p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Vessel ranking</a:t>
            </a:r>
          </a:p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Port compatibility</a:t>
            </a:r>
          </a:p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BOOK / WAIT recommendation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F5F8795-5A36-72F9-E7A1-AFB177A3BFF5}"/>
              </a:ext>
            </a:extLst>
          </p:cNvPr>
          <p:cNvSpPr/>
          <p:nvPr/>
        </p:nvSpPr>
        <p:spPr>
          <a:xfrm>
            <a:off x="9873005" y="2022040"/>
            <a:ext cx="1759677" cy="224830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WEB DASHBOARD</a:t>
            </a:r>
          </a:p>
          <a:p>
            <a:pPr algn="ctr"/>
            <a:endParaRPr lang="en-IN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FastAPI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 backend</a:t>
            </a:r>
          </a:p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React frontend</a:t>
            </a:r>
          </a:p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/>
              </a:rPr>
              <a:t>Charts, alerts &amp; scenarios</a:t>
            </a:r>
          </a:p>
          <a:p>
            <a:pPr algn="ctr"/>
            <a:endParaRPr lang="en-IN" dirty="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33F380B7-D869-30D5-B1ED-6CB2DE905753}"/>
              </a:ext>
            </a:extLst>
          </p:cNvPr>
          <p:cNvSpPr/>
          <p:nvPr/>
        </p:nvSpPr>
        <p:spPr>
          <a:xfrm>
            <a:off x="2315853" y="2941163"/>
            <a:ext cx="568744" cy="369332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B6D7E520-1A49-DFFD-7F2D-1671597FC863}"/>
              </a:ext>
            </a:extLst>
          </p:cNvPr>
          <p:cNvSpPr/>
          <p:nvPr/>
        </p:nvSpPr>
        <p:spPr>
          <a:xfrm>
            <a:off x="4647417" y="2908897"/>
            <a:ext cx="568744" cy="369332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BE0002C1-F43B-2492-8125-932F46BD9EAC}"/>
              </a:ext>
            </a:extLst>
          </p:cNvPr>
          <p:cNvSpPr/>
          <p:nvPr/>
        </p:nvSpPr>
        <p:spPr>
          <a:xfrm>
            <a:off x="6972697" y="2906598"/>
            <a:ext cx="568744" cy="369332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CE2E83BB-547B-7B69-3F25-1DBFFF844839}"/>
              </a:ext>
            </a:extLst>
          </p:cNvPr>
          <p:cNvSpPr/>
          <p:nvPr/>
        </p:nvSpPr>
        <p:spPr>
          <a:xfrm>
            <a:off x="9297977" y="2906598"/>
            <a:ext cx="568744" cy="369332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2E9EF7-7200-423B-7E82-2AE5F1BE0DEF}"/>
              </a:ext>
            </a:extLst>
          </p:cNvPr>
          <p:cNvSpPr txBox="1"/>
          <p:nvPr/>
        </p:nvSpPr>
        <p:spPr>
          <a:xfrm>
            <a:off x="559317" y="4091726"/>
            <a:ext cx="6094428" cy="67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200" b="1" dirty="0">
                <a:solidFill>
                  <a:schemeClr val="accent6"/>
                </a:solidFill>
              </a:rPr>
              <a:t>Technologies Used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B7BA9A-6FB3-8D88-0C32-2603B2BA8D0C}"/>
              </a:ext>
            </a:extLst>
          </p:cNvPr>
          <p:cNvSpPr txBox="1"/>
          <p:nvPr/>
        </p:nvSpPr>
        <p:spPr>
          <a:xfrm>
            <a:off x="559317" y="4655962"/>
            <a:ext cx="6094428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Python:</a:t>
            </a:r>
            <a:r>
              <a:rPr lang="en-US" dirty="0"/>
              <a:t> Core development and AI processing</a:t>
            </a:r>
          </a:p>
          <a:p>
            <a:pPr>
              <a:lnSpc>
                <a:spcPct val="150000"/>
              </a:lnSpc>
            </a:pPr>
            <a:r>
              <a:rPr lang="en-US" b="1" dirty="0"/>
              <a:t>Pandas:</a:t>
            </a:r>
            <a:r>
              <a:rPr lang="en-US" dirty="0"/>
              <a:t> Data cleaning and analysis</a:t>
            </a:r>
          </a:p>
          <a:p>
            <a:pPr>
              <a:lnSpc>
                <a:spcPct val="150000"/>
              </a:lnSpc>
            </a:pPr>
            <a:r>
              <a:rPr lang="en-IN" b="1" dirty="0" err="1"/>
              <a:t>XGBoost</a:t>
            </a:r>
            <a:r>
              <a:rPr lang="en-IN" b="1" dirty="0"/>
              <a:t>:</a:t>
            </a:r>
            <a:r>
              <a:rPr lang="en-IN" dirty="0"/>
              <a:t> Freight-rate prediction</a:t>
            </a:r>
          </a:p>
          <a:p>
            <a:pPr>
              <a:lnSpc>
                <a:spcPct val="150000"/>
              </a:lnSpc>
            </a:pPr>
            <a:r>
              <a:rPr lang="en-IN" b="1" dirty="0"/>
              <a:t>My SQL</a:t>
            </a:r>
            <a:r>
              <a:rPr lang="en-IN" dirty="0"/>
              <a:t>: Data storage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0497996-6C2D-BF35-4BA3-0F6100258D9C}"/>
              </a:ext>
            </a:extLst>
          </p:cNvPr>
          <p:cNvSpPr/>
          <p:nvPr/>
        </p:nvSpPr>
        <p:spPr>
          <a:xfrm>
            <a:off x="329939" y="276834"/>
            <a:ext cx="1536569" cy="54168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Aeturnus</a:t>
            </a:r>
            <a:endParaRPr lang="en-IN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0D2DA2-C754-5FC4-A4C5-D4AEA751B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737C250-28B3-8646-AF59-B3BDC1C1DBBA}"/>
              </a:ext>
            </a:extLst>
          </p:cNvPr>
          <p:cNvSpPr txBox="1">
            <a:spLocks/>
          </p:cNvSpPr>
          <p:nvPr/>
        </p:nvSpPr>
        <p:spPr>
          <a:xfrm>
            <a:off x="8890000" y="6413234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b="1" smtClean="0">
                <a:solidFill>
                  <a:prstClr val="white"/>
                </a:solidFill>
              </a:rPr>
              <a:pPr>
                <a:defRPr/>
              </a:pPr>
              <a:t>4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D61CE611-1CC4-4B84-51C0-0F8A2F8E9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</p:spTree>
    <p:extLst>
      <p:ext uri="{BB962C8B-B14F-4D97-AF65-F5344CB8AC3E}">
        <p14:creationId xmlns:p14="http://schemas.microsoft.com/office/powerpoint/2010/main" val="1450512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29773" y="368149"/>
            <a:ext cx="10972800" cy="575527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E5C6C9C-2BB7-4C48-58A8-DAF8BBBE3C59}"/>
              </a:ext>
            </a:extLst>
          </p:cNvPr>
          <p:cNvSpPr/>
          <p:nvPr/>
        </p:nvSpPr>
        <p:spPr>
          <a:xfrm>
            <a:off x="593889" y="1562493"/>
            <a:ext cx="4694548" cy="198198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00B0F0"/>
                </a:solidFill>
              </a:rPr>
              <a:t>Technical Feasibility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spcBef>
                <a:spcPts val="700"/>
              </a:spcBef>
              <a:defRPr sz="1200">
                <a:solidFill>
                  <a:srgbClr val="F5F5F5"/>
                </a:solidFill>
              </a:defRPr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Python,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FastAPI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and MySQL are widely supported</a:t>
            </a:r>
          </a:p>
          <a:p>
            <a:pPr>
              <a:spcBef>
                <a:spcPts val="700"/>
              </a:spcBef>
              <a:defRPr sz="1200">
                <a:solidFill>
                  <a:srgbClr val="F5F5F5"/>
                </a:solidFill>
              </a:defRPr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Machine-learning models can use historical freight data</a:t>
            </a:r>
          </a:p>
          <a:p>
            <a:pPr>
              <a:spcBef>
                <a:spcPts val="700"/>
              </a:spcBef>
              <a:defRPr sz="1200">
                <a:solidFill>
                  <a:srgbClr val="F5F5F5"/>
                </a:solidFill>
              </a:defRPr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Modular architecture supports future integrations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B98D1FD-3BD5-82BE-6C22-B45AEEF24893}"/>
              </a:ext>
            </a:extLst>
          </p:cNvPr>
          <p:cNvSpPr/>
          <p:nvPr/>
        </p:nvSpPr>
        <p:spPr>
          <a:xfrm>
            <a:off x="593889" y="4011025"/>
            <a:ext cx="4694548" cy="198198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78DCF0"/>
                </a:solidFill>
              </a:defRPr>
            </a:pPr>
            <a:r>
              <a:rPr lang="en-IN" dirty="0">
                <a:solidFill>
                  <a:srgbClr val="00B0F0"/>
                </a:solidFill>
              </a:rPr>
              <a:t>Economic Viability</a:t>
            </a:r>
          </a:p>
          <a:p>
            <a:pPr>
              <a:spcBef>
                <a:spcPts val="700"/>
              </a:spcBef>
              <a:defRPr sz="1200">
                <a:solidFill>
                  <a:srgbClr val="F5F5F5"/>
                </a:solidFill>
              </a:defRPr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Reduces waiting time, idle vessels and deadheading</a:t>
            </a:r>
          </a:p>
          <a:p>
            <a:pPr>
              <a:spcBef>
                <a:spcPts val="700"/>
              </a:spcBef>
              <a:defRPr sz="1200">
                <a:solidFill>
                  <a:srgbClr val="F5F5F5"/>
                </a:solidFill>
              </a:defRPr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Improves chartering and procurement efficiency</a:t>
            </a:r>
          </a:p>
          <a:p>
            <a:pPr>
              <a:spcBef>
                <a:spcPts val="700"/>
              </a:spcBef>
              <a:defRPr sz="1200">
                <a:solidFill>
                  <a:srgbClr val="F5F5F5"/>
                </a:solidFill>
              </a:defRPr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Scalable solution with low-cost open-source technologies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4C51F07-B8E6-C04B-93CE-070FE1B997D2}"/>
              </a:ext>
            </a:extLst>
          </p:cNvPr>
          <p:cNvSpPr/>
          <p:nvPr/>
        </p:nvSpPr>
        <p:spPr>
          <a:xfrm>
            <a:off x="5949885" y="1562493"/>
            <a:ext cx="4694548" cy="198198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78DCF0"/>
                </a:solidFill>
              </a:defRPr>
            </a:pPr>
            <a:r>
              <a:rPr lang="en-IN" dirty="0">
                <a:solidFill>
                  <a:srgbClr val="00B0F0"/>
                </a:solidFill>
              </a:rPr>
              <a:t>Operational Viability</a:t>
            </a:r>
          </a:p>
          <a:p>
            <a:pPr>
              <a:spcBef>
                <a:spcPts val="700"/>
              </a:spcBef>
              <a:defRPr sz="1200">
                <a:solidFill>
                  <a:srgbClr val="F5F5F5"/>
                </a:solidFill>
              </a:defRPr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Real-time dashboard supports faster decisions</a:t>
            </a:r>
          </a:p>
          <a:p>
            <a:pPr>
              <a:spcBef>
                <a:spcPts val="700"/>
              </a:spcBef>
              <a:defRPr sz="1200">
                <a:solidFill>
                  <a:srgbClr val="F5F5F5"/>
                </a:solidFill>
              </a:defRPr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Vessel, port and cargo data can be centrally managed</a:t>
            </a:r>
          </a:p>
          <a:p>
            <a:pPr>
              <a:spcBef>
                <a:spcPts val="700"/>
              </a:spcBef>
              <a:defRPr sz="1200">
                <a:solidFill>
                  <a:srgbClr val="F5F5F5"/>
                </a:solidFill>
              </a:defRPr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Explainable recommendations improve user confidence</a:t>
            </a:r>
            <a:endParaRPr lang="en-I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D3971DA-1378-54F7-1B3E-ADDB7BDB9685}"/>
              </a:ext>
            </a:extLst>
          </p:cNvPr>
          <p:cNvSpPr/>
          <p:nvPr/>
        </p:nvSpPr>
        <p:spPr>
          <a:xfrm>
            <a:off x="5949885" y="4011025"/>
            <a:ext cx="4694548" cy="198198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00B0F0"/>
                </a:solidFill>
              </a:rPr>
              <a:t>Implementation &amp; Risk</a:t>
            </a:r>
          </a:p>
          <a:p>
            <a:pPr>
              <a:spcBef>
                <a:spcPts val="700"/>
              </a:spcBef>
              <a:defRPr sz="1200">
                <a:solidFill>
                  <a:srgbClr val="F5F5F5"/>
                </a:solidFill>
              </a:defRPr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Start with historical/demo data and expand gradually</a:t>
            </a:r>
          </a:p>
          <a:p>
            <a:pPr>
              <a:spcBef>
                <a:spcPts val="700"/>
              </a:spcBef>
              <a:defRPr sz="1200">
                <a:solidFill>
                  <a:srgbClr val="F5F5F5"/>
                </a:solidFill>
              </a:defRPr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Use data validation and model performance monitoring</a:t>
            </a:r>
          </a:p>
          <a:p>
            <a:pPr>
              <a:spcBef>
                <a:spcPts val="700"/>
              </a:spcBef>
              <a:defRPr sz="1200">
                <a:solidFill>
                  <a:srgbClr val="F5F5F5"/>
                </a:solidFill>
              </a:defRPr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• Human approval remains part of final charter decisions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954C553-A3E8-50D7-75F8-9FCEB14C566D}"/>
              </a:ext>
            </a:extLst>
          </p:cNvPr>
          <p:cNvSpPr/>
          <p:nvPr/>
        </p:nvSpPr>
        <p:spPr>
          <a:xfrm>
            <a:off x="329939" y="276834"/>
            <a:ext cx="1536569" cy="54168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Aeturnus</a:t>
            </a:r>
            <a:endParaRPr lang="en-IN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3F0590-D9E5-4903-E2E0-65765CE3D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1BFEDC4F-403A-339A-A922-BF0ABE74A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EAA4FE7E-5915-5ED9-109E-216BCE8FFAF7}"/>
              </a:ext>
            </a:extLst>
          </p:cNvPr>
          <p:cNvSpPr txBox="1">
            <a:spLocks/>
          </p:cNvSpPr>
          <p:nvPr/>
        </p:nvSpPr>
        <p:spPr>
          <a:xfrm>
            <a:off x="8890000" y="6413234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b="1" smtClean="0">
                <a:solidFill>
                  <a:prstClr val="white"/>
                </a:solidFill>
              </a:rPr>
              <a:pPr>
                <a:defRPr/>
              </a:pPr>
              <a:t>5</a:t>
            </a:fld>
            <a:endParaRPr lang="en-US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21064" y="348302"/>
            <a:ext cx="10972800" cy="603806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Expected Business Impact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E889B78-B97A-E4F6-8CCB-5B56BC1164F5}"/>
              </a:ext>
            </a:extLst>
          </p:cNvPr>
          <p:cNvSpPr/>
          <p:nvPr/>
        </p:nvSpPr>
        <p:spPr>
          <a:xfrm>
            <a:off x="537327" y="1589353"/>
            <a:ext cx="3110845" cy="204561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solidFill>
                  <a:srgbClr val="2DAACD"/>
                </a:solidFill>
                <a:latin typeface="Aptos"/>
              </a:rPr>
              <a:t>COST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Better market-entry timing can reduce freight procurement cost.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32F0D0C-AA01-50FA-AE84-32F5A981ADE3}"/>
              </a:ext>
            </a:extLst>
          </p:cNvPr>
          <p:cNvSpPr/>
          <p:nvPr/>
        </p:nvSpPr>
        <p:spPr>
          <a:xfrm>
            <a:off x="4319048" y="1589353"/>
            <a:ext cx="3110844" cy="2045616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solidFill>
                  <a:srgbClr val="309B69"/>
                </a:solidFill>
                <a:latin typeface="Aptos"/>
              </a:rPr>
              <a:t>CONTRACTING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Support short-term / medium-term multiple-voyage contracts.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C3EAE98-88E4-193E-6D60-9305D8FFD29D}"/>
              </a:ext>
            </a:extLst>
          </p:cNvPr>
          <p:cNvSpPr/>
          <p:nvPr/>
        </p:nvSpPr>
        <p:spPr>
          <a:xfrm>
            <a:off x="8095822" y="1589353"/>
            <a:ext cx="3110843" cy="204561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solidFill>
                  <a:srgbClr val="195FA0"/>
                </a:solidFill>
                <a:latin typeface="Aptos"/>
              </a:rPr>
              <a:t>UTILIZATION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ptos"/>
              </a:rPr>
              <a:t>Better vessel-port matching reduces idle time and deadheading.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F886BD3-C95B-EC37-8A8B-35A8C90B240A}"/>
              </a:ext>
            </a:extLst>
          </p:cNvPr>
          <p:cNvSpPr/>
          <p:nvPr/>
        </p:nvSpPr>
        <p:spPr>
          <a:xfrm>
            <a:off x="537328" y="4032031"/>
            <a:ext cx="3110844" cy="204561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solidFill>
                  <a:srgbClr val="DCA02D"/>
                </a:solidFill>
                <a:latin typeface="Aptos"/>
              </a:rPr>
              <a:t>RELIABILITY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Early warnings improve planning and supply-chain resilience.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AD3148-BA94-8217-773D-1922F475DF37}"/>
              </a:ext>
            </a:extLst>
          </p:cNvPr>
          <p:cNvSpPr/>
          <p:nvPr/>
        </p:nvSpPr>
        <p:spPr>
          <a:xfrm>
            <a:off x="4316575" y="4032031"/>
            <a:ext cx="3110844" cy="204561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solidFill>
                  <a:srgbClr val="2DAACD"/>
                </a:solidFill>
                <a:latin typeface="Aptos"/>
              </a:rPr>
              <a:t>DECISION SPEED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ptos"/>
              </a:rPr>
              <a:t>One consistent workflow replaces fragmented daily analysis.</a:t>
            </a: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  <a:latin typeface="Apto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F8E8238-0772-C9CA-1F5B-B569DC78F6BB}"/>
              </a:ext>
            </a:extLst>
          </p:cNvPr>
          <p:cNvSpPr/>
          <p:nvPr/>
        </p:nvSpPr>
        <p:spPr>
          <a:xfrm>
            <a:off x="329939" y="276834"/>
            <a:ext cx="1536569" cy="54168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Aeturnus</a:t>
            </a:r>
            <a:endParaRPr lang="en-IN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83A45DC-F03A-6354-621D-F6EF86BCC7B4}"/>
              </a:ext>
            </a:extLst>
          </p:cNvPr>
          <p:cNvSpPr txBox="1">
            <a:spLocks/>
          </p:cNvSpPr>
          <p:nvPr/>
        </p:nvSpPr>
        <p:spPr bwMode="auto">
          <a:xfrm>
            <a:off x="8615867" y="4356450"/>
            <a:ext cx="2070751" cy="603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2800" b="1" dirty="0">
                <a:latin typeface="Sitka Heading" pitchFamily="2" charset="0"/>
                <a:ea typeface="ＭＳ Ｐゴシック" pitchFamily="1" charset="-128"/>
                <a:cs typeface="Times New Roman" panose="02020603050405020304" pitchFamily="18" charset="0"/>
              </a:rPr>
              <a:t>GitHub</a:t>
            </a:r>
          </a:p>
        </p:txBody>
      </p:sp>
      <p:sp>
        <p:nvSpPr>
          <p:cNvPr id="7" name="Title 1">
            <a:hlinkClick r:id="rId4"/>
            <a:extLst>
              <a:ext uri="{FF2B5EF4-FFF2-40B4-BE49-F238E27FC236}">
                <a16:creationId xmlns:a16="http://schemas.microsoft.com/office/drawing/2014/main" id="{047091FC-1C83-0159-0806-0000A087D0EA}"/>
              </a:ext>
            </a:extLst>
          </p:cNvPr>
          <p:cNvSpPr txBox="1">
            <a:spLocks/>
          </p:cNvSpPr>
          <p:nvPr/>
        </p:nvSpPr>
        <p:spPr bwMode="auto">
          <a:xfrm>
            <a:off x="8095822" y="5054839"/>
            <a:ext cx="3334179" cy="491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1800" b="1" dirty="0">
                <a:latin typeface="Sitka Heading" pitchFamily="2" charset="0"/>
                <a:ea typeface="ＭＳ Ｐゴシック" pitchFamily="1" charset="-128"/>
                <a:cs typeface="Times New Roman" panose="02020603050405020304" pitchFamily="18" charset="0"/>
                <a:hlinkClick r:id="rId4"/>
              </a:rPr>
              <a:t>https://github.com/Parth5599/FreightForecaster.git</a:t>
            </a:r>
            <a:endParaRPr lang="en-US" sz="1800" b="1" dirty="0">
              <a:latin typeface="Sitka Heading" pitchFamily="2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E0FB97-5FE4-C113-BEA3-D4096099D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" name="Footer Placeholder 6">
            <a:extLst>
              <a:ext uri="{FF2B5EF4-FFF2-40B4-BE49-F238E27FC236}">
                <a16:creationId xmlns:a16="http://schemas.microsoft.com/office/drawing/2014/main" id="{6CCE34F5-FA12-B632-E1B4-49D0CACB7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09CFDDBD-035D-D6C7-C78A-75C526AE4F05}"/>
              </a:ext>
            </a:extLst>
          </p:cNvPr>
          <p:cNvSpPr txBox="1">
            <a:spLocks/>
          </p:cNvSpPr>
          <p:nvPr/>
        </p:nvSpPr>
        <p:spPr>
          <a:xfrm>
            <a:off x="8890000" y="6413234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b="1" smtClean="0">
                <a:solidFill>
                  <a:prstClr val="white"/>
                </a:solidFill>
              </a:rPr>
              <a:pPr>
                <a:defRPr/>
              </a:pPr>
              <a:t>6</a:t>
            </a:fld>
            <a:endParaRPr lang="en-US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8299</TotalTime>
  <Words>537</Words>
  <Application>Microsoft Office PowerPoint</Application>
  <PresentationFormat>Widescreen</PresentationFormat>
  <Paragraphs>129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Aptos</vt:lpstr>
      <vt:lpstr>Arial</vt:lpstr>
      <vt:lpstr>Calibri</vt:lpstr>
      <vt:lpstr>Garamond</vt:lpstr>
      <vt:lpstr>Sitka Heading</vt:lpstr>
      <vt:lpstr>Times New Roman</vt:lpstr>
      <vt:lpstr>TradeGothic</vt:lpstr>
      <vt:lpstr>Office Theme</vt:lpstr>
      <vt:lpstr>SMART INDIA HACKATHON 2026</vt:lpstr>
      <vt:lpstr>The Current Problem</vt:lpstr>
      <vt:lpstr>Our Proposed Solution</vt:lpstr>
      <vt:lpstr>TECHNICAL APPROACH</vt:lpstr>
      <vt:lpstr>FEASIBILITY AND VIABILITY</vt:lpstr>
      <vt:lpstr>Expected Business Impact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tushar nimavat</cp:lastModifiedBy>
  <cp:revision>156</cp:revision>
  <dcterms:created xsi:type="dcterms:W3CDTF">2013-12-12T18:46:50Z</dcterms:created>
  <dcterms:modified xsi:type="dcterms:W3CDTF">2026-09-17T16:38:00Z</dcterms:modified>
  <cp:category/>
</cp:coreProperties>
</file>